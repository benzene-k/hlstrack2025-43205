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16765652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1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50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3280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4255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3280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4255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3280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4255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3280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4255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3280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4255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3280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4255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3280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4255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3280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4255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0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98D6A8-22DA-4CFC-AA61-FFA3C3542D5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0A8970-340F-4734-A5BA-656F77B0B30C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96DE77-F393-425F-B5C6-A733350DBF5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30C561-0074-4F63-A55C-330074E9321E}" type="slidenum">
              <a:rPr lang="en-US" smtClean="0"/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90500" y="190500"/>
            <a:ext cx="4492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[Public]</a:t>
            </a:r>
            <a:endParaRPr lang="en-US" sz="1000">
              <a:solidFill>
                <a:srgbClr val="008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image" Target="../media/image4.jpe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2"/>
          <p:cNvSpPr txBox="1"/>
          <p:nvPr/>
        </p:nvSpPr>
        <p:spPr>
          <a:xfrm>
            <a:off x="179805" y="1777776"/>
            <a:ext cx="3778396" cy="46007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YOLO object detection algorithm is deployed on an FPGA hardware platform to achieve real-time recognition of road signs and determine the specific instructions indicated by the signs.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typical FPGA-based road sign recognition system consists of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 image acquisition module,an FPGA hardware acceleration module,an algorithm processing module,and a result output module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.Currently,most such systems are equipped with functions for real-time image precessing,YOLO object detection acceleration ,and road sign instruction classification.However,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some solutions are limited by FPGA resources and cannot balance high-resolution image processing with low-latency response, resulting in fluctuations in recognition accuracy in complex road scenarios.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Key technical issues addressed: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 I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mage acquisition, Adopt an auto-focus camera module.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Data receiving and processing, AMD-Xilinx 7 series Zynq System on a Chip (SoC) devices.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Data transmitting, use AXI bus for transmission.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Data storing, use DDR on FPGA for storage.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972" y="1093081"/>
            <a:ext cx="2795337" cy="465054"/>
          </a:xfrm>
          <a:solidFill>
            <a:srgbClr val="2F2F2F"/>
          </a:solidFill>
        </p:spPr>
        <p:txBody>
          <a:bodyPr>
            <a:normAutofit/>
          </a:bodyPr>
          <a:lstStyle/>
          <a:p>
            <a:pPr algn="ctr"/>
            <a:r>
              <a:rPr lang="en-US" sz="1800" b="1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INTRODUCTION</a:t>
            </a:r>
            <a:endParaRPr lang="en-US" sz="1800" b="1" dirty="0">
              <a:solidFill>
                <a:schemeClr val="bg1"/>
              </a:solidFill>
              <a:latin typeface="Aharoni" panose="020F0502020204030204" pitchFamily="34" charset="0"/>
              <a:cs typeface="Aharon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2885" y="259715"/>
            <a:ext cx="6789420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Title : R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oad Sign Automatic Recognition System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" name="Title 1"/>
          <p:cNvSpPr txBox="1"/>
          <p:nvPr/>
        </p:nvSpPr>
        <p:spPr>
          <a:xfrm>
            <a:off x="7733160" y="2090674"/>
            <a:ext cx="411468" cy="3188991"/>
          </a:xfrm>
          <a:prstGeom prst="rect">
            <a:avLst/>
          </a:prstGeom>
          <a:solidFill>
            <a:srgbClr val="2F2F2F"/>
          </a:solidFill>
        </p:spPr>
        <p:txBody>
          <a:bodyPr vert="wordArtVert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7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j-ea"/>
              <a:cs typeface="+mj-cs"/>
            </a:endParaRPr>
          </a:p>
        </p:txBody>
      </p:sp>
      <p:sp>
        <p:nvSpPr>
          <p:cNvPr id="44" name="文本框 4"/>
          <p:cNvSpPr txBox="1"/>
          <p:nvPr/>
        </p:nvSpPr>
        <p:spPr>
          <a:xfrm>
            <a:off x="974840" y="3302281"/>
            <a:ext cx="1882140" cy="2444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Typical application case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48" name="Straight Connector 47"/>
          <p:cNvCxnSpPr/>
          <p:nvPr/>
        </p:nvCxnSpPr>
        <p:spPr>
          <a:xfrm>
            <a:off x="6096000" y="259496"/>
            <a:ext cx="2213128" cy="165852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 flipV="1">
            <a:off x="8309128" y="1905826"/>
            <a:ext cx="3659900" cy="11458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>
            <a:off x="8309128" y="1918018"/>
            <a:ext cx="0" cy="462235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8986520" y="2263140"/>
            <a:ext cx="3094990" cy="90811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R="0" lvl="0" indent="457200" algn="l" defTabSz="914400" rtl="0" fontAlgn="auto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+mn-ea"/>
                <a:cs typeface="Calibri" panose="020F0502020204030204" charset="0"/>
              </a:rPr>
              <a:t>The system innovatively adopts the hardware accelerated YOLOv3- Tiny algorithm architecture, which not only efficiently 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+mn-ea"/>
                <a:cs typeface="Calibri" panose="020F0502020204030204" charset="0"/>
              </a:rPr>
              <a:t>completes the identification and logical judgment of road signs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+mn-ea"/>
                <a:cs typeface="Calibri" panose="020F0502020204030204" charset="0"/>
              </a:rPr>
              <a:t>, but also realizes the visual display of relevant identification results.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+mn-ea"/>
              <a:cs typeface="Calibri" panose="020F0502020204030204" charset="0"/>
            </a:endParaRPr>
          </a:p>
          <a:p>
            <a:pPr marR="0" lvl="0" indent="457200" algn="l" defTabSz="914400" rtl="0" fontAlgn="auto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+mn-ea"/>
                <a:cs typeface="Calibri" panose="020F0502020204030204" charset="0"/>
              </a:rPr>
              <a:t>After optimization iteration, the system can be stably applied to the 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+mn-ea"/>
                <a:cs typeface="Calibri" panose="020F0502020204030204" charset="0"/>
              </a:rPr>
              <a:t>high-speed visual processing unit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+mn-ea"/>
                <a:cs typeface="Calibri" panose="020F0502020204030204" charset="0"/>
              </a:rPr>
              <a:t>, which can not only adapt to the high-speed accurate detection of road signs in front of vehicles, provide key support for the landing of automatic driving technology, but also realize the automatic monitoring of vehicle violations.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+mn-ea"/>
              <a:cs typeface="Calibri" panose="020F0502020204030204" charset="0"/>
            </a:endParaRPr>
          </a:p>
          <a:p>
            <a:pPr marR="0" lvl="0" indent="457200" algn="l" defTabSz="914400" rtl="0" fontAlgn="auto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+mn-ea"/>
                <a:cs typeface="Calibri" panose="020F0502020204030204" charset="0"/>
              </a:rPr>
              <a:t>This achievement not only has important learning and reference significance for relevant technology research and development, but also has significant social value in standardizing traffic order.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+mn-ea"/>
              <a:cs typeface="Calibri" panose="020F0502020204030204" charset="0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7811791" y="3936576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D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7811791" y="4131400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7811791" y="4333639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7811791" y="4528458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I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7811791" y="4714497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7811791" y="4910333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7796923" y="2081612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C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7811791" y="2276436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7811791" y="2478675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7811791" y="2673494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A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7811791" y="2859533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7811791" y="3055369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I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7811791" y="3239853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V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7811791" y="3440750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  <p:sp>
        <p:nvSpPr>
          <p:cNvPr id="96" name="文本框 4"/>
          <p:cNvSpPr txBox="1"/>
          <p:nvPr/>
        </p:nvSpPr>
        <p:spPr>
          <a:xfrm>
            <a:off x="10035854" y="1607120"/>
            <a:ext cx="2238705" cy="2208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On board test by AMD ZYNQ7100</a:t>
            </a:r>
            <a:endParaRPr kumimoji="0" lang="en-US" altLang="zh-CN" sz="10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8088456" y="504037"/>
            <a:ext cx="43343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1" i="0" u="none" strike="noStrike" kern="100" cap="none" spc="0" normalizeH="0" baseline="0" noProof="0" dirty="0">
                <a:ln>
                  <a:noFill/>
                </a:ln>
                <a:solidFill>
                  <a:srgbClr val="242021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OpenHW2025</a:t>
            </a:r>
            <a:endParaRPr kumimoji="0" lang="en-US" sz="2000" b="1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4" name="Title 1"/>
          <p:cNvSpPr txBox="1"/>
          <p:nvPr/>
        </p:nvSpPr>
        <p:spPr>
          <a:xfrm>
            <a:off x="8507018" y="2052136"/>
            <a:ext cx="377933" cy="1678530"/>
          </a:xfrm>
          <a:prstGeom prst="rect">
            <a:avLst/>
          </a:prstGeom>
          <a:solidFill>
            <a:srgbClr val="2F2F2F"/>
          </a:solidFill>
        </p:spPr>
        <p:txBody>
          <a:bodyPr vert="wordArtVert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7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j-ea"/>
              <a:cs typeface="+mj-cs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8555488" y="2200504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8555488" y="2389574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8555488" y="2592416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8555488" y="2810740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U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8555488" y="3017161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8555488" y="3218373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  <p:pic>
        <p:nvPicPr>
          <p:cNvPr id="7" name="Picture 6" descr="A black background with a black square&#10;&#10;Description automatically generated with medium confidenc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9288" y="721064"/>
            <a:ext cx="2111325" cy="1187620"/>
          </a:xfrm>
          <a:prstGeom prst="rect">
            <a:avLst/>
          </a:prstGeom>
        </p:spPr>
      </p:pic>
      <p:sp>
        <p:nvSpPr>
          <p:cNvPr id="14" name="文本框 4"/>
          <p:cNvSpPr txBox="1"/>
          <p:nvPr>
            <p:custDataLst>
              <p:tags r:id="rId2"/>
            </p:custDataLst>
          </p:nvPr>
        </p:nvSpPr>
        <p:spPr>
          <a:xfrm>
            <a:off x="4383482" y="3544112"/>
            <a:ext cx="2695575" cy="2444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System Architecture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4" name="矩形: 圆角 10"/>
          <p:cNvSpPr/>
          <p:nvPr/>
        </p:nvSpPr>
        <p:spPr>
          <a:xfrm>
            <a:off x="4209513" y="5567296"/>
            <a:ext cx="3288217" cy="101202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FPGA Implemented High-Speed Image Processing: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1. Adopting parallel circuit architecture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;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2. Integrating real-time data preprocessing modules to boost effciency;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3. Suupports multi-format image data conversion;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5" name="矩形: 圆角 11"/>
          <p:cNvSpPr/>
          <p:nvPr/>
        </p:nvSpPr>
        <p:spPr>
          <a:xfrm>
            <a:off x="4223004" y="3859322"/>
            <a:ext cx="3274725" cy="156650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FPGA I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mplemented YOLO Hardware Acceleration: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1. Parallelizing YOLO core convolution via pipeline design;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2. Cutting data latency with on-chip feature map cache;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3. Offloading CPU workload through task division;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4. Enabling real-time input via image sensor protocol support;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3" name="图片 2"/>
          <p:cNvPicPr/>
          <p:nvPr/>
        </p:nvPicPr>
        <p:blipFill>
          <a:blip r:embed="rId3"/>
          <a:stretch>
            <a:fillRect/>
          </a:stretch>
        </p:blipFill>
        <p:spPr>
          <a:xfrm>
            <a:off x="3787775" y="1315720"/>
            <a:ext cx="3887470" cy="2070735"/>
          </a:xfrm>
          <a:prstGeom prst="rect">
            <a:avLst/>
          </a:prstGeom>
        </p:spPr>
      </p:pic>
      <p:pic>
        <p:nvPicPr>
          <p:cNvPr id="9" name="图片 8" descr="be7f04dd5857b6b0625040a5026f935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755" y="2524760"/>
            <a:ext cx="2588895" cy="840105"/>
          </a:xfrm>
          <a:prstGeom prst="rect">
            <a:avLst/>
          </a:prstGeom>
        </p:spPr>
      </p:pic>
      <p:pic>
        <p:nvPicPr>
          <p:cNvPr id="10" name="图片 9" descr="717ebf7ff3c8db68a133f861969d2f6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51110" y="300990"/>
            <a:ext cx="1676400" cy="125857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2438</Words>
  <Application>WPS 演示</Application>
  <PresentationFormat>宽屏</PresentationFormat>
  <Paragraphs>83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6" baseType="lpstr">
      <vt:lpstr>Arial</vt:lpstr>
      <vt:lpstr>宋体</vt:lpstr>
      <vt:lpstr>Wingdings</vt:lpstr>
      <vt:lpstr>Calibri</vt:lpstr>
      <vt:lpstr>Aharoni</vt:lpstr>
      <vt:lpstr>Calibri</vt:lpstr>
      <vt:lpstr>Times New Roman</vt:lpstr>
      <vt:lpstr>微软雅黑</vt:lpstr>
      <vt:lpstr>Aharoni</vt:lpstr>
      <vt:lpstr>等线</vt:lpstr>
      <vt:lpstr>Adobe Gothic Std B</vt:lpstr>
      <vt:lpstr>Arial Unicode MS</vt:lpstr>
      <vt:lpstr>Calibri Light</vt:lpstr>
      <vt:lpstr>Office Theme</vt:lpstr>
      <vt:lpstr>1_Office Theme</vt:lpstr>
      <vt:lpstr>INTRODUCTION</vt:lpstr>
    </vt:vector>
  </TitlesOfParts>
  <Company>AMD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Chen, Wen (Vicky)</dc:creator>
  <cp:lastModifiedBy>温欣宇</cp:lastModifiedBy>
  <cp:revision>17</cp:revision>
  <dcterms:created xsi:type="dcterms:W3CDTF">2024-09-09T08:07:00Z</dcterms:created>
  <dcterms:modified xsi:type="dcterms:W3CDTF">2025-11-07T06:51:12Z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A5CD7C22856F4612872335E502B04199_12</vt:lpwstr>
  </property>
  <property fmtid="{D5CDD505-2E9C-101B-9397-08002B2CF9AE}" pid="3" name="KSOProductBuildVer">
    <vt:lpwstr>2052-12.1.0.22529</vt:lpwstr>
  </property>
</Properties>
</file>